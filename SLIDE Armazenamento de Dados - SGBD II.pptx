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7" r:id="rId10"/>
    <p:sldId id="269" r:id="rId11"/>
    <p:sldId id="270" r:id="rId12"/>
    <p:sldId id="272" r:id="rId13"/>
    <p:sldId id="273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605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F8CEF-E234-8491-AAFF-E3697069B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2BE41-2B18-18EB-D2E9-5AC69BC08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25EC0-8909-88D2-9442-B6238855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0DDC53-BFA8-06A9-9537-68A8556F40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9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E627F-8960-18B8-5DAB-6929AFE3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39418-4132-3386-7850-C4293BA6D4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FD999-3C07-CB95-9AE0-638128EB2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20638-7915-2959-8F4B-8BE096F6F4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5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320040" y="0"/>
            <a:ext cx="54864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69257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KIMPA VITA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13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POLITÉCNICO DO UÍGE  |  CURSO DE ENGENHARIA INFORMÁTICA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61440"/>
            <a:ext cx="8046720" cy="0"/>
          </a:xfrm>
          <a:prstGeom prst="line">
            <a:avLst/>
          </a:prstGeom>
          <a:noFill/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13589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Grupo de S.G.B.D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8046720" cy="0"/>
          </a:xfrm>
          <a:prstGeom prst="line">
            <a:avLst/>
          </a:prstGeom>
          <a:noFill/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2834640" y="3081527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3030" y="342900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Almeida K. Nzinga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 Pedro Muanza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Guiola André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Kiasissua Simão Pedro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4540" y="342900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Mucuzo António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Tumba D. João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Nsimba Alberto Samuel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Suzana Diasivi Nicolau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79" y="4643455"/>
            <a:ext cx="392938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3º Ano | Turma TL 101 | Manhã | Uíge, Abril 2026</a:t>
            </a:r>
            <a:endParaRPr lang="en-US" sz="140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B0432E6B-53E5-5DC5-7E0F-72659B2E74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666" y="109729"/>
            <a:ext cx="649747" cy="642684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F4BBC19C-37B8-43D2-2556-0140629B7459}"/>
              </a:ext>
            </a:extLst>
          </p:cNvPr>
          <p:cNvSpPr/>
          <p:nvPr/>
        </p:nvSpPr>
        <p:spPr>
          <a:xfrm>
            <a:off x="5926582" y="4643455"/>
            <a:ext cx="294309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Orientador: Moyo Kanivengidio, </a:t>
            </a:r>
            <a:r>
              <a:rPr lang="en-US" sz="1400" dirty="0" err="1">
                <a:solidFill>
                  <a:srgbClr val="6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r>
              <a:rPr lang="en-US" sz="1400" dirty="0">
                <a:solidFill>
                  <a:srgbClr val="6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338662" y="274663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92942" y="95131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292942" y="951319"/>
            <a:ext cx="50292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292942" y="95131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7302" y="95131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942" y="191143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292942" y="1911439"/>
            <a:ext cx="502920" cy="77724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292942" y="191143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7302" y="191143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“Geral e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Específicos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942" y="287155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292942" y="2871559"/>
            <a:ext cx="502920" cy="777240"/>
          </a:xfrm>
          <a:prstGeom prst="rect">
            <a:avLst/>
          </a:prstGeom>
          <a:solidFill>
            <a:srgbClr val="1A6E8A"/>
          </a:solidFill>
          <a:ln w="12700">
            <a:solidFill>
              <a:srgbClr val="1A6E8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292942" y="287155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7302" y="287155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Armazenamento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92942" y="383167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292942" y="3831679"/>
            <a:ext cx="502920" cy="77724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292942" y="383167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7302" y="383167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Armazenamento Físico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82062" y="95131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4682062" y="951319"/>
            <a:ext cx="502920" cy="77724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4682062" y="95131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76422" y="95131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Buffer (Buffer Manager)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82062" y="191143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4682062" y="1911439"/>
            <a:ext cx="502920" cy="777240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4682062" y="191143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76422" y="191143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– Redundant Array of Independent Disks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82062" y="287155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4682062" y="2871559"/>
            <a:ext cx="502920" cy="77724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682062" y="287155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76422" y="287155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82062" y="3831679"/>
            <a:ext cx="4160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4" name="Shape 32"/>
          <p:cNvSpPr/>
          <p:nvPr/>
        </p:nvSpPr>
        <p:spPr>
          <a:xfrm>
            <a:off x="4682062" y="3831679"/>
            <a:ext cx="50292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4682062" y="3831679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76422" y="3831679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INTRODUÇÃO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2634828"/>
            <a:ext cx="274320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20040" y="2634827"/>
            <a:ext cx="27432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320040" y="263482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</a:t>
            </a:r>
            <a:r>
              <a:rPr lang="en-US" sz="1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29768" y="3229187"/>
            <a:ext cx="2523744" cy="15714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armazenamento de dados é um dos pilares dos SGBD, define como a informação é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fisicamente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organizada,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gerida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acedida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setivos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armazenamento.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634828"/>
            <a:ext cx="274320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3200400" y="2634827"/>
            <a:ext cx="27432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200400" y="263482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Base do Trabalho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3229187"/>
            <a:ext cx="2523744" cy="15714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spcAft>
                <a:spcPts val="600"/>
              </a:spcAft>
              <a:buNone/>
            </a:pP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material de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"SGBD" do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Moyo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Kanivengidio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4: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Dados, pp. 41–50.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2634828"/>
            <a:ext cx="2743200" cy="2225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6080760" y="2634827"/>
            <a:ext cx="27432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080760" y="263482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Temas Abordados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0488" y="3229187"/>
            <a:ext cx="2523744" cy="163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físicas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buffer;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RAID;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caso prático.</a:t>
            </a:r>
            <a:endParaRPr lang="en-US" sz="16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F3E0256E-3583-61E3-7D3C-E8BD2D8E1B1B}"/>
              </a:ext>
            </a:extLst>
          </p:cNvPr>
          <p:cNvSpPr/>
          <p:nvPr/>
        </p:nvSpPr>
        <p:spPr>
          <a:xfrm>
            <a:off x="320040" y="731519"/>
            <a:ext cx="8503920" cy="1688255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279CD3D7-B373-F1BA-D563-D3E0D5FE4CCB}"/>
              </a:ext>
            </a:extLst>
          </p:cNvPr>
          <p:cNvSpPr/>
          <p:nvPr/>
        </p:nvSpPr>
        <p:spPr>
          <a:xfrm>
            <a:off x="429768" y="781470"/>
            <a:ext cx="8257032" cy="15714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lnSpc>
                <a:spcPct val="150000"/>
              </a:lnSpc>
            </a:pPr>
            <a:r>
              <a:rPr lang="pt-PT" sz="1600" dirty="0">
                <a:solidFill>
                  <a:schemeClr val="bg1"/>
                </a:solidFill>
              </a:rPr>
              <a:t>O presente trabalho foi elaborado com base no material de apoio de "Sistema de Gestão de Base de Dados", da autoria do Docente </a:t>
            </a:r>
            <a:r>
              <a:rPr lang="pt-PT" sz="1600" b="1" dirty="0" err="1">
                <a:solidFill>
                  <a:schemeClr val="bg1"/>
                </a:solidFill>
              </a:rPr>
              <a:t>Moyo</a:t>
            </a:r>
            <a:r>
              <a:rPr lang="pt-PT" sz="1600" b="1" dirty="0">
                <a:solidFill>
                  <a:schemeClr val="bg1"/>
                </a:solidFill>
              </a:rPr>
              <a:t> </a:t>
            </a:r>
            <a:r>
              <a:rPr lang="pt-PT" sz="1600" b="1" dirty="0" err="1">
                <a:solidFill>
                  <a:schemeClr val="bg1"/>
                </a:solidFill>
              </a:rPr>
              <a:t>Kanivengidio</a:t>
            </a:r>
            <a:r>
              <a:rPr lang="pt-PT" sz="1600" dirty="0">
                <a:solidFill>
                  <a:schemeClr val="bg1"/>
                </a:solidFill>
              </a:rPr>
              <a:t>, Este trabalho aborda de forma clara e detalhada os conceitos desenvolvidos no Capítulo 4, que tem como o tema </a:t>
            </a:r>
            <a:r>
              <a:rPr lang="pt-PT" sz="1600" b="1" i="1" dirty="0">
                <a:solidFill>
                  <a:schemeClr val="bg1"/>
                </a:solidFill>
              </a:rPr>
              <a:t>"Armazenamento de Dados"</a:t>
            </a:r>
            <a:r>
              <a:rPr lang="pt-PT" sz="1600" i="1" dirty="0">
                <a:solidFill>
                  <a:schemeClr val="bg1"/>
                </a:solidFill>
              </a:rPr>
              <a:t>, </a:t>
            </a:r>
            <a:r>
              <a:rPr lang="pt-PT" sz="1600" dirty="0">
                <a:solidFill>
                  <a:schemeClr val="bg1"/>
                </a:solidFill>
              </a:rPr>
              <a:t>aprofundando cada tema com clareza.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OBJETIVOS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640080"/>
            <a:ext cx="841248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4"/>
          <p:cNvSpPr/>
          <p:nvPr/>
        </p:nvSpPr>
        <p:spPr>
          <a:xfrm>
            <a:off x="365760" y="640080"/>
            <a:ext cx="9144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94360" y="65870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360" y="1024128"/>
            <a:ext cx="8183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os fundamentos teóricos e técnicos do armazenamento de dados em SGBD,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ndo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hierarquia de armazenamento, estruturas físicas, gestão de buffer e RAID.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347472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25856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 caracterizar os níveis da hierarquia de armazenamento (RAM, SSD, HDD, Arquivo).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770632"/>
            <a:ext cx="347472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6576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7889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Descrever as estruturas físicas: blocos/páginas e organizações de ficheiros (Heap, Sequencial, Hashing).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300984"/>
            <a:ext cx="347472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365760" y="3300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31927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o Gestor de Buffer: pool de buffers, políticas de substituição (LRU, FIFO, Clock, MRU) e WAL.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831336"/>
            <a:ext cx="347472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36576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84962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os níveis de RAID (0, 1, 5, 6, 10): vantagens, desvantagens e cenários de aplicação.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361688"/>
            <a:ext cx="347472" cy="34747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36576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437997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os conhecimentos num estudo de caso de configuração para um servidor de e-commerce.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HIERARQUIA DE ARMAZENAMENTO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SGBD exploram uma pirâmide de tecnologias — do </a:t>
            </a:r>
            <a:r>
              <a:rPr lang="en-US" sz="1600" dirty="0" err="1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</a:t>
            </a:r>
            <a:r>
              <a:rPr lang="en-US" sz="16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r>
              <a:rPr lang="en-US" sz="16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600" dirty="0" err="1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</a:t>
            </a:r>
            <a:r>
              <a:rPr lang="en-US" sz="16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ao mais lento/barato.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27400" y="1051560"/>
            <a:ext cx="2489200" cy="7498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464561" y="1051560"/>
            <a:ext cx="50630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072467" y="1051560"/>
            <a:ext cx="80128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Principal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83667" y="1051560"/>
            <a:ext cx="1032933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Rápida · Volátil · Cara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1965960"/>
            <a:ext cx="3657600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2743200" y="1965960"/>
            <a:ext cx="1097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40480" y="1965960"/>
            <a:ext cx="1280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Flash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1463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 · Não Volátil · Custo Médio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37360" y="2880360"/>
            <a:ext cx="5669280" cy="74980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1737360" y="2880360"/>
            <a:ext cx="17007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23732" y="2880360"/>
            <a:ext cx="1798659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 Magnético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98533" y="2880360"/>
            <a:ext cx="2208107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· Não Volátil · Barata · Alta Cap.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7863840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40080" y="3794760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23732" y="3794760"/>
            <a:ext cx="2127844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Fitas /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13400" y="3794760"/>
            <a:ext cx="2890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Lenta · Não Volátil · Muito Barata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7">
            <a:extLst>
              <a:ext uri="{FF2B5EF4-FFF2-40B4-BE49-F238E27FC236}">
                <a16:creationId xmlns:a16="http://schemas.microsoft.com/office/drawing/2014/main" id="{0F12E2DC-9775-540B-0192-DFC65B233D73}"/>
              </a:ext>
            </a:extLst>
          </p:cNvPr>
          <p:cNvSpPr/>
          <p:nvPr/>
        </p:nvSpPr>
        <p:spPr>
          <a:xfrm>
            <a:off x="320040" y="824315"/>
            <a:ext cx="8503920" cy="1400051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240795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ESTRUTURAS DE ARMAZENAMENTO FÍSICO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2624668"/>
            <a:ext cx="8503920" cy="66785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>
              <a:lnSpc>
                <a:spcPct val="150000"/>
              </a:lnSpc>
            </a:pPr>
            <a:endParaRPr lang="pt-PT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2624668"/>
            <a:ext cx="8503920" cy="650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PT" sz="1600" dirty="0"/>
              <a:t>Existem três principais formas de organizar os registos dentro dos ficheiros de dados, cada uma com diferentes implicações para o desempenho de leitura, escrita e pesquisa 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4114799"/>
            <a:ext cx="2743200" cy="4114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320040" y="4114799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Heap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4114799"/>
            <a:ext cx="2743200" cy="4114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200400" y="4114799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80760" y="4114799"/>
            <a:ext cx="2743200" cy="41148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080760" y="4114799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Hashing</a:t>
            </a:r>
            <a:endParaRPr lang="en-US" sz="16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2E6F2F37-8BE0-0E0B-D371-8399F4982DFC}"/>
              </a:ext>
            </a:extLst>
          </p:cNvPr>
          <p:cNvSpPr/>
          <p:nvPr/>
        </p:nvSpPr>
        <p:spPr>
          <a:xfrm>
            <a:off x="320040" y="36145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>
              <a:solidFill>
                <a:srgbClr val="009999"/>
              </a:solidFill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2BF2BEFB-1DAA-1ABE-0656-070D7D58757E}"/>
              </a:ext>
            </a:extLst>
          </p:cNvPr>
          <p:cNvSpPr/>
          <p:nvPr/>
        </p:nvSpPr>
        <p:spPr>
          <a:xfrm>
            <a:off x="3200400" y="3648285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>
              <a:solidFill>
                <a:srgbClr val="009999"/>
              </a:solidFill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54C4495F-7282-9D24-2122-A6A6FD86792E}"/>
              </a:ext>
            </a:extLst>
          </p:cNvPr>
          <p:cNvSpPr/>
          <p:nvPr/>
        </p:nvSpPr>
        <p:spPr>
          <a:xfrm>
            <a:off x="6080760" y="3648285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>
              <a:solidFill>
                <a:srgbClr val="009999"/>
              </a:solidFill>
            </a:endParaRPr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68CDE25B-559C-777B-9920-685C18184B8D}"/>
              </a:ext>
            </a:extLst>
          </p:cNvPr>
          <p:cNvSpPr/>
          <p:nvPr/>
        </p:nvSpPr>
        <p:spPr>
          <a:xfrm>
            <a:off x="457200" y="830586"/>
            <a:ext cx="8229600" cy="13411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PT" dirty="0">
                <a:solidFill>
                  <a:schemeClr val="bg1"/>
                </a:solidFill>
              </a:rPr>
              <a:t>Os dados numa base de dados são armazenados em ficheiros no sistema operativo, mas o SGBD organiza esses ficheiros de forma específica e otimizada para maximizar a eficiência no acesso. O SGBD não trabalha com bytes individuais, mas sim com unidades maiores chamadas blocos ou páginas.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Armazenamento em Disco: HDD vs SSD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160520"/>
          </a:xfrm>
          <a:prstGeom prst="rect">
            <a:avLst/>
          </a:prstGeom>
          <a:solidFill>
            <a:srgbClr val="1A2A3A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💿  HDD – Hard Disk Drive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Pratos magnéticos giratórios (5400–15000 RPM)</a:t>
            </a:r>
            <a:endParaRPr lang="en-US" sz="14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envolve seek time + latência rotacional</a:t>
            </a:r>
            <a:endParaRPr lang="en-US" sz="14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total: 5–15 ms</a:t>
            </a:r>
            <a:endParaRPr lang="en-US" sz="14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sequencial &gt;&gt; acesso aleatório</a:t>
            </a:r>
            <a:endParaRPr lang="en-US" sz="14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capacidade · Baixo custo por byte</a:t>
            </a:r>
            <a:endParaRPr lang="en-US" sz="1400" dirty="0"/>
          </a:p>
          <a:p>
            <a:pPr marL="171450" indent="-171450">
              <a:spcAft>
                <a:spcPts val="5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Suscetível a falhas mecânicas (partes móveis)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114800" cy="4160520"/>
          </a:xfrm>
          <a:prstGeom prst="rect">
            <a:avLst/>
          </a:prstGeom>
          <a:solidFill>
            <a:srgbClr val="1A2A3A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14800" cy="50292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709160" y="777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SSD – Solid State Drive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8404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Células de memória flash NAND (sem partes móveis)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puramente eletrónico — sem seek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Latência: ~0,1 ms (NVMe)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aleatório ≈ acesso sequencial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caro por byte que HDD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de escrita limitados (TBW – Terabytes Written)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286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GESTÃO DE BUFFER (BUFFER MANAGER)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8503920" cy="2250272"/>
          </a:xfrm>
          <a:prstGeom prst="rect">
            <a:avLst/>
          </a:prstGeom>
          <a:solidFill>
            <a:srgbClr val="F5EEF8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941832"/>
            <a:ext cx="8229600" cy="20408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50000"/>
              </a:lnSpc>
            </a:pPr>
            <a:r>
              <a:rPr lang="pt-PT" dirty="0"/>
              <a:t>O Gestor de Buffer (Buffer Manager) é um componente crítico e central do SGBD, responsável por gerir a transferência de blocos de dados entre o disco (armazenamento persistente) e a memória principal (RAM). É o mecanismo que permite ao SGBD minimizar as operações de I/O para o disco, que são ordens de magnitude mais lentas que o acesso à RAM (Date, 2003).</a:t>
            </a:r>
          </a:p>
        </p:txBody>
      </p:sp>
      <p:sp>
        <p:nvSpPr>
          <p:cNvPr id="7" name="Text 5"/>
          <p:cNvSpPr/>
          <p:nvPr/>
        </p:nvSpPr>
        <p:spPr>
          <a:xfrm>
            <a:off x="365760" y="33541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Pool de Buffers – Funcionamento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0040" y="3747348"/>
            <a:ext cx="1920240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20040" y="374734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 precisa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bloco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40280" y="3902796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68880" y="3747348"/>
            <a:ext cx="1920240" cy="8046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2468880" y="374734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está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pool?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9120" y="3902796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17720" y="3747348"/>
            <a:ext cx="1920240" cy="804672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617720" y="374734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acesso imediato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37960" y="3902796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3747348"/>
            <a:ext cx="1920240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766560" y="374734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MISS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lê do disco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RAID – REDUNDANT ARRAY OF INDEPENDENT DISKS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97594" y="2138645"/>
            <a:ext cx="3945461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397594" y="2138645"/>
            <a:ext cx="39454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0 – Striping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59866" y="2138645"/>
            <a:ext cx="3945461" cy="475488"/>
          </a:xfrm>
          <a:prstGeom prst="rect">
            <a:avLst/>
          </a:prstGeom>
          <a:solidFill>
            <a:srgbClr val="1A6E8A"/>
          </a:solidFill>
          <a:ln w="12700">
            <a:solidFill>
              <a:srgbClr val="1A6E8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4859866" y="2138645"/>
            <a:ext cx="394546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 – Mirroring</a:t>
            </a:r>
            <a:endParaRPr lang="en-US" sz="13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40629968-48B5-98BF-E1A0-E62593DF1046}"/>
              </a:ext>
            </a:extLst>
          </p:cNvPr>
          <p:cNvSpPr/>
          <p:nvPr/>
        </p:nvSpPr>
        <p:spPr>
          <a:xfrm>
            <a:off x="274320" y="653796"/>
            <a:ext cx="8577072" cy="13298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pt-PT" sz="1600" dirty="0">
                <a:solidFill>
                  <a:schemeClr val="bg1"/>
                </a:solidFill>
              </a:rPr>
              <a:t>RAID (</a:t>
            </a:r>
            <a:r>
              <a:rPr lang="pt-PT" sz="1600" dirty="0" err="1">
                <a:solidFill>
                  <a:schemeClr val="bg1"/>
                </a:solidFill>
              </a:rPr>
              <a:t>Redundant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Array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of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Independent</a:t>
            </a:r>
            <a:r>
              <a:rPr lang="pt-PT" sz="1600" dirty="0">
                <a:solidFill>
                  <a:schemeClr val="bg1"/>
                </a:solidFill>
              </a:rPr>
              <a:t> </a:t>
            </a:r>
            <a:r>
              <a:rPr lang="pt-PT" sz="1600" dirty="0" err="1">
                <a:solidFill>
                  <a:schemeClr val="bg1"/>
                </a:solidFill>
              </a:rPr>
              <a:t>Disks</a:t>
            </a:r>
            <a:r>
              <a:rPr lang="pt-PT" sz="1600" dirty="0">
                <a:solidFill>
                  <a:schemeClr val="bg1"/>
                </a:solidFill>
              </a:rPr>
              <a:t>) é uma tecnologia de armazenamento que combina múltiplos discos físicos num único volume lógico, com o objetivo de melhorar o desempenho, a redundância de dados, ou ambos simultaneamente. É uma tecnologia amplamente utilizada em servidores de bases de dados para aumentar a disponibilidade e a fiabilidade do armazenamento (</a:t>
            </a:r>
            <a:r>
              <a:rPr lang="pt-PT" sz="1600" dirty="0" err="1">
                <a:solidFill>
                  <a:schemeClr val="bg1"/>
                </a:solidFill>
              </a:rPr>
              <a:t>Connolly</a:t>
            </a:r>
            <a:r>
              <a:rPr lang="pt-PT" sz="1600" dirty="0">
                <a:solidFill>
                  <a:schemeClr val="bg1"/>
                </a:solidFill>
              </a:rPr>
              <a:t> &amp; </a:t>
            </a:r>
            <a:r>
              <a:rPr lang="pt-PT" sz="1600" dirty="0" err="1">
                <a:solidFill>
                  <a:schemeClr val="bg1"/>
                </a:solidFill>
              </a:rPr>
              <a:t>Begg</a:t>
            </a:r>
            <a:r>
              <a:rPr lang="pt-PT" sz="1600" dirty="0">
                <a:solidFill>
                  <a:schemeClr val="bg1"/>
                </a:solidFill>
              </a:rPr>
              <a:t>, 2015).</a:t>
            </a: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CF929963-7B7A-E57F-AA1B-5A6E56DF9D4B}"/>
              </a:ext>
            </a:extLst>
          </p:cNvPr>
          <p:cNvSpPr/>
          <p:nvPr/>
        </p:nvSpPr>
        <p:spPr>
          <a:xfrm>
            <a:off x="379306" y="2885509"/>
            <a:ext cx="2743200" cy="47548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E4316027-1116-80C2-ED71-151F0B0404D4}"/>
              </a:ext>
            </a:extLst>
          </p:cNvPr>
          <p:cNvSpPr/>
          <p:nvPr/>
        </p:nvSpPr>
        <p:spPr>
          <a:xfrm>
            <a:off x="379306" y="288550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5</a:t>
            </a:r>
            <a:endParaRPr lang="en-US" sz="14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4CFB780-0A30-4C84-3D7F-20BB903F619A}"/>
              </a:ext>
            </a:extLst>
          </p:cNvPr>
          <p:cNvSpPr/>
          <p:nvPr/>
        </p:nvSpPr>
        <p:spPr>
          <a:xfrm>
            <a:off x="379306" y="311410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 + Paridade</a:t>
            </a:r>
            <a:endParaRPr lang="en-US" sz="95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4854104C-C9A1-AFED-BD30-DFC40947CA29}"/>
              </a:ext>
            </a:extLst>
          </p:cNvPr>
          <p:cNvSpPr/>
          <p:nvPr/>
        </p:nvSpPr>
        <p:spPr>
          <a:xfrm>
            <a:off x="3229184" y="2885509"/>
            <a:ext cx="2743200" cy="47548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A6112963-270F-D43E-E70B-49F47B6DD34A}"/>
              </a:ext>
            </a:extLst>
          </p:cNvPr>
          <p:cNvSpPr/>
          <p:nvPr/>
        </p:nvSpPr>
        <p:spPr>
          <a:xfrm>
            <a:off x="3229184" y="288550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6</a:t>
            </a:r>
            <a:endParaRPr lang="en-US" sz="1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645945F-EB1C-5D59-845D-84041FC364FD}"/>
              </a:ext>
            </a:extLst>
          </p:cNvPr>
          <p:cNvSpPr/>
          <p:nvPr/>
        </p:nvSpPr>
        <p:spPr>
          <a:xfrm>
            <a:off x="3229184" y="311410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 + Dupla Paridade</a:t>
            </a:r>
            <a:endParaRPr lang="en-US" sz="95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4325E974-0DFC-7CA5-0651-373EFB9FD04D}"/>
              </a:ext>
            </a:extLst>
          </p:cNvPr>
          <p:cNvSpPr/>
          <p:nvPr/>
        </p:nvSpPr>
        <p:spPr>
          <a:xfrm>
            <a:off x="6062127" y="2885509"/>
            <a:ext cx="2743200" cy="475488"/>
          </a:xfrm>
          <a:prstGeom prst="rect">
            <a:avLst/>
          </a:prstGeom>
          <a:solidFill>
            <a:srgbClr val="6E2F1A"/>
          </a:solidFill>
          <a:ln w="12700">
            <a:solidFill>
              <a:srgbClr val="6E2F1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1377964F-F003-C666-78DC-9B44946268AF}"/>
              </a:ext>
            </a:extLst>
          </p:cNvPr>
          <p:cNvSpPr/>
          <p:nvPr/>
        </p:nvSpPr>
        <p:spPr>
          <a:xfrm>
            <a:off x="6062127" y="288550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10</a:t>
            </a:r>
            <a:endParaRPr lang="en-US" sz="14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376B0F8-5B75-87F2-44F3-A1FCEE22B2D2}"/>
              </a:ext>
            </a:extLst>
          </p:cNvPr>
          <p:cNvSpPr/>
          <p:nvPr/>
        </p:nvSpPr>
        <p:spPr>
          <a:xfrm>
            <a:off x="6062127" y="3114109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5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 + Mirroring</a:t>
            </a:r>
            <a:endParaRPr lang="en-US" sz="950" dirty="0"/>
          </a:p>
        </p:txBody>
      </p:sp>
      <p:sp>
        <p:nvSpPr>
          <p:cNvPr id="31" name="Shape 2"/>
          <p:cNvSpPr/>
          <p:nvPr/>
        </p:nvSpPr>
        <p:spPr>
          <a:xfrm>
            <a:off x="350525" y="4204713"/>
            <a:ext cx="2602642" cy="621792"/>
          </a:xfrm>
          <a:prstGeom prst="rect">
            <a:avLst/>
          </a:prstGeom>
          <a:solidFill>
            <a:srgbClr val="132333"/>
          </a:solidFill>
          <a:ln w="2857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"/>
          <p:cNvSpPr/>
          <p:nvPr/>
        </p:nvSpPr>
        <p:spPr>
          <a:xfrm>
            <a:off x="350525" y="4204713"/>
            <a:ext cx="26026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STRIPING</a:t>
            </a:r>
            <a:endParaRPr lang="en-US" sz="1300" dirty="0"/>
          </a:p>
        </p:txBody>
      </p:sp>
      <p:sp>
        <p:nvSpPr>
          <p:cNvPr id="33" name="Shape 5"/>
          <p:cNvSpPr/>
          <p:nvPr/>
        </p:nvSpPr>
        <p:spPr>
          <a:xfrm>
            <a:off x="3276605" y="4204713"/>
            <a:ext cx="2602642" cy="621792"/>
          </a:xfrm>
          <a:prstGeom prst="rect">
            <a:avLst/>
          </a:prstGeom>
          <a:solidFill>
            <a:srgbClr val="132333"/>
          </a:solidFill>
          <a:ln w="2857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6"/>
          <p:cNvSpPr/>
          <p:nvPr/>
        </p:nvSpPr>
        <p:spPr>
          <a:xfrm>
            <a:off x="3276605" y="4205052"/>
            <a:ext cx="26026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🪞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</a:t>
            </a:r>
            <a:endParaRPr lang="en-US" sz="1300" dirty="0"/>
          </a:p>
        </p:txBody>
      </p:sp>
      <p:sp>
        <p:nvSpPr>
          <p:cNvPr id="35" name="Shape 8"/>
          <p:cNvSpPr/>
          <p:nvPr/>
        </p:nvSpPr>
        <p:spPr>
          <a:xfrm>
            <a:off x="6202685" y="4205051"/>
            <a:ext cx="2602642" cy="621453"/>
          </a:xfrm>
          <a:prstGeom prst="rect">
            <a:avLst/>
          </a:prstGeom>
          <a:solidFill>
            <a:srgbClr val="132333"/>
          </a:solidFill>
          <a:ln w="28575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6" name="Text 9"/>
          <p:cNvSpPr/>
          <p:nvPr/>
        </p:nvSpPr>
        <p:spPr>
          <a:xfrm>
            <a:off x="6202685" y="4205052"/>
            <a:ext cx="260264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PARIDADE</a:t>
            </a:r>
            <a:endParaRPr lang="en-US" sz="13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346EE6D8-1A58-ECD0-052C-6A84CDDA572E}"/>
              </a:ext>
            </a:extLst>
          </p:cNvPr>
          <p:cNvSpPr/>
          <p:nvPr/>
        </p:nvSpPr>
        <p:spPr>
          <a:xfrm>
            <a:off x="274320" y="3622282"/>
            <a:ext cx="8577072" cy="370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pt-PT" sz="2000" b="1" dirty="0">
                <a:solidFill>
                  <a:schemeClr val="bg1"/>
                </a:solidFill>
              </a:rPr>
              <a:t>Os Conceitos Fundamentais do RAID são: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457200" y="223861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ESTUDO DE CASO 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817539"/>
            <a:ext cx="8503920" cy="1483872"/>
          </a:xfrm>
          <a:prstGeom prst="rect">
            <a:avLst/>
          </a:prstGeom>
          <a:solidFill>
            <a:srgbClr val="FEF9E7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457200" y="888659"/>
            <a:ext cx="8229600" cy="11841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>
              <a:lnSpc>
                <a:spcPct val="150000"/>
              </a:lnSpc>
            </a:pPr>
            <a:r>
              <a:rPr lang="pt-PT" dirty="0"/>
              <a:t>Para consolidar os conceitos abordados, analisa-se um cenário prático de configuração de armazenamento para um SGBD utilizado numa aplicação de comércio eletrónico de média/grande escala.</a:t>
            </a:r>
          </a:p>
        </p:txBody>
      </p:sp>
      <p:sp>
        <p:nvSpPr>
          <p:cNvPr id="7" name="Shape 5"/>
          <p:cNvSpPr/>
          <p:nvPr/>
        </p:nvSpPr>
        <p:spPr>
          <a:xfrm>
            <a:off x="310896" y="2893734"/>
            <a:ext cx="2743200" cy="855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310896" y="2893734"/>
            <a:ext cx="274320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310896" y="289373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WAL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" y="335093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SSD NVMe + RAID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18688" y="2893734"/>
            <a:ext cx="2743200" cy="855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3218688" y="2893734"/>
            <a:ext cx="2743200" cy="384048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3218688" y="289373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Ativos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335093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SSD + RAID 10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2893734"/>
            <a:ext cx="2743200" cy="855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6126480" y="2893734"/>
            <a:ext cx="2743200" cy="384048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6126480" y="289373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335093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HDD + RAID 5/6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0896" y="3991182"/>
            <a:ext cx="2743200" cy="855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310896" y="3991182"/>
            <a:ext cx="2743200" cy="384048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310896" y="399118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TempDB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444838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SSD sem RAID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18688" y="3991182"/>
            <a:ext cx="2743200" cy="855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3218688" y="3991182"/>
            <a:ext cx="27432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3218688" y="399118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10128" y="444838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HDD + Cloud Arquivo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26480" y="3991182"/>
            <a:ext cx="2743200" cy="855133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3" name="Shape 31"/>
          <p:cNvSpPr/>
          <p:nvPr/>
        </p:nvSpPr>
        <p:spPr>
          <a:xfrm>
            <a:off x="6126480" y="3991182"/>
            <a:ext cx="2743200" cy="384048"/>
          </a:xfrm>
          <a:prstGeom prst="rect">
            <a:avLst/>
          </a:prstGeom>
          <a:solidFill>
            <a:srgbClr val="1D8348"/>
          </a:solidFill>
          <a:ln w="12700">
            <a:solidFill>
              <a:srgbClr val="1D834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6126480" y="399118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Pool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7920" y="444838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RAM 64–512 GB</a:t>
            </a:r>
            <a:endParaRPr lang="en-US" sz="16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A6133369-9535-3549-08B9-D519A8B7329C}"/>
              </a:ext>
            </a:extLst>
          </p:cNvPr>
          <p:cNvSpPr/>
          <p:nvPr/>
        </p:nvSpPr>
        <p:spPr>
          <a:xfrm>
            <a:off x="384048" y="2315963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Propostas</a:t>
            </a: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</a:t>
            </a: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822959"/>
            <a:ext cx="640080" cy="4062307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822960"/>
            <a:ext cx="7772400" cy="4062306"/>
          </a:xfrm>
          <a:prstGeom prst="rect">
            <a:avLst/>
          </a:prstGeom>
          <a:solidFill>
            <a:srgbClr val="132333"/>
          </a:solidFill>
          <a:ln w="12700">
            <a:solidFill>
              <a:srgbClr val="1E3A5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1005840" y="804330"/>
            <a:ext cx="7680960" cy="3877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pt-PT" dirty="0">
                <a:solidFill>
                  <a:schemeClr val="bg2"/>
                </a:solidFill>
              </a:rPr>
              <a:t>O trabalho permitiu compreender de forma estruturada os principais conceitos do armazenamento de dados em Sistemas de Gestão de Bases de Dados (SGBD), com destaque para a hierarquia de armazenamento, as estruturas físicas, a gestão de buffer e a tecnologia RAID. Foi evidenciado como diferentes níveis de armazenamento, desde a RAM até aos sistemas de arquivo, são utilizados de forma estratégica, equilibrando velocidade, custo e persistência dos dados.</a:t>
            </a:r>
          </a:p>
          <a:p>
            <a:pPr algn="just"/>
            <a:endParaRPr lang="pt-PT" dirty="0">
              <a:solidFill>
                <a:schemeClr val="bg2"/>
              </a:solidFill>
            </a:endParaRPr>
          </a:p>
          <a:p>
            <a:pPr algn="just"/>
            <a:r>
              <a:rPr lang="pt-PT" dirty="0">
                <a:solidFill>
                  <a:schemeClr val="bg2"/>
                </a:solidFill>
              </a:rPr>
              <a:t>Além disso, o estudo de caso demonstrou a aplicação prática desses conceitos numa arquitetura real, utilizando </a:t>
            </a:r>
            <a:r>
              <a:rPr lang="pt-PT" dirty="0" err="1">
                <a:solidFill>
                  <a:schemeClr val="bg2"/>
                </a:solidFill>
              </a:rPr>
              <a:t>SSDs</a:t>
            </a:r>
            <a:r>
              <a:rPr lang="pt-PT" dirty="0">
                <a:solidFill>
                  <a:schemeClr val="bg2"/>
                </a:solidFill>
              </a:rPr>
              <a:t> </a:t>
            </a:r>
            <a:r>
              <a:rPr lang="pt-PT" dirty="0" err="1">
                <a:solidFill>
                  <a:schemeClr val="bg2"/>
                </a:solidFill>
              </a:rPr>
              <a:t>NVMe</a:t>
            </a:r>
            <a:r>
              <a:rPr lang="pt-PT" dirty="0">
                <a:solidFill>
                  <a:schemeClr val="bg2"/>
                </a:solidFill>
              </a:rPr>
              <a:t>, RAID 10 para dados críticos e RAID 5/6 para dados históricos, além de soluções de backup a longo prazo. Conclui-se que o armazenamento em SGBD envolve uma integração multidisciplinar de conhecimentos, sendo essencial para profissionais que desejam projetar e otimizar sistemas de bases de dados modernos.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AA921-CE94-5DBD-1FC8-9EF03FE25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BE053F-EEA1-B417-D839-BE8F1DBBFFD0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0BC17EC-1CE8-82BE-B6C1-D7976ED5AA42}"/>
              </a:ext>
            </a:extLst>
          </p:cNvPr>
          <p:cNvSpPr/>
          <p:nvPr/>
        </p:nvSpPr>
        <p:spPr>
          <a:xfrm>
            <a:off x="320040" y="0"/>
            <a:ext cx="54864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E42F1F9-AE40-2500-298C-14D74F97B10C}"/>
              </a:ext>
            </a:extLst>
          </p:cNvPr>
          <p:cNvSpPr/>
          <p:nvPr/>
        </p:nvSpPr>
        <p:spPr>
          <a:xfrm>
            <a:off x="640080" y="1638051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4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Prestada</a:t>
            </a:r>
            <a:endParaRPr lang="en-US" sz="4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CDCF801-D121-A933-7B11-2A0B79EB42D9}"/>
              </a:ext>
            </a:extLst>
          </p:cNvPr>
          <p:cNvSpPr/>
          <p:nvPr/>
        </p:nvSpPr>
        <p:spPr>
          <a:xfrm>
            <a:off x="685800" y="2409021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NOSSO MUITO OBRIGADO</a:t>
            </a:r>
            <a:endParaRPr lang="en-US" sz="40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36C6712E-C119-BBB8-82E4-5E2E4B20084C}"/>
              </a:ext>
            </a:extLst>
          </p:cNvPr>
          <p:cNvSpPr/>
          <p:nvPr/>
        </p:nvSpPr>
        <p:spPr>
          <a:xfrm>
            <a:off x="731520" y="315011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PT" sz="4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🙏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1422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3BD5F-598D-3353-2B18-66B29589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2110145-C3DD-B48D-364F-3C9693C422B7}"/>
              </a:ext>
            </a:extLst>
          </p:cNvPr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17A8B"/>
          </a:solidFill>
          <a:ln w="12700">
            <a:solidFill>
              <a:srgbClr val="117A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D334B0-D7A0-F916-A794-AEEECE9DE547}"/>
              </a:ext>
            </a:extLst>
          </p:cNvPr>
          <p:cNvSpPr/>
          <p:nvPr/>
        </p:nvSpPr>
        <p:spPr>
          <a:xfrm>
            <a:off x="320040" y="0"/>
            <a:ext cx="54864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10">
            <a:extLst>
              <a:ext uri="{FF2B5EF4-FFF2-40B4-BE49-F238E27FC236}">
                <a16:creationId xmlns:a16="http://schemas.microsoft.com/office/drawing/2014/main" id="{E374B45C-61CA-C099-BF73-E4BF7535CD73}"/>
              </a:ext>
            </a:extLst>
          </p:cNvPr>
          <p:cNvSpPr/>
          <p:nvPr/>
        </p:nvSpPr>
        <p:spPr>
          <a:xfrm>
            <a:off x="963760" y="1284815"/>
            <a:ext cx="7342040" cy="31432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Guiola André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e 3)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António Almeida K. Nzinga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(Página 4)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200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Kiasissua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Simão Pedro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(Página 5 )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Tumba D. João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(Página 6)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</a:t>
            </a:r>
            <a:r>
              <a:rPr lang="en-US" sz="2000" dirty="0" err="1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Mucuzo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António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(Página 7)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Nsimba Alberto Samuel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(Página 8)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Suzana Diasivi Nicolau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(Página 9)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Filipe Pedro Muanza 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r>
              <a:rPr lang="en-US" sz="20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e 11)</a:t>
            </a:r>
            <a:r>
              <a:rPr lang="en-US" sz="2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>
              <a:spcAft>
                <a:spcPts val="500"/>
              </a:spcAft>
              <a:buSzPct val="100000"/>
            </a:pPr>
            <a:endParaRPr lang="en-US" sz="2000" dirty="0">
              <a:solidFill>
                <a:srgbClr val="C8D8E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FE66278-56AE-5C6A-3463-9C22616AA414}"/>
              </a:ext>
            </a:extLst>
          </p:cNvPr>
          <p:cNvSpPr/>
          <p:nvPr/>
        </p:nvSpPr>
        <p:spPr>
          <a:xfrm>
            <a:off x="694944" y="40191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 APRESENTAÇÃO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72411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1223</Words>
  <Application>Microsoft Office PowerPoint</Application>
  <PresentationFormat>Apresentação na tela (16:9)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Armazenamento de Dados – SGBD</dc:title>
  <dc:subject>PptxGenJS Presentation</dc:subject>
  <dc:creator>PptxGenJS</dc:creator>
  <cp:lastModifiedBy>Filipe Pedro Muanza William</cp:lastModifiedBy>
  <cp:revision>18</cp:revision>
  <dcterms:created xsi:type="dcterms:W3CDTF">2026-04-09T15:58:49Z</dcterms:created>
  <dcterms:modified xsi:type="dcterms:W3CDTF">2026-04-10T05:00:39Z</dcterms:modified>
</cp:coreProperties>
</file>